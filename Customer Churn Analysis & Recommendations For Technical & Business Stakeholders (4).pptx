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Maven Pro"/>
      <p:regular r:id="rId33"/>
      <p:bold r:id="rId34"/>
    </p:embeddedFont>
    <p:embeddedFont>
      <p:font typeface="Nunito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SemiBold-bold.fntdata"/><Relationship Id="rId21" Type="http://schemas.openxmlformats.org/officeDocument/2006/relationships/font" Target="fonts/NunitoSemiBold-regular.fntdata"/><Relationship Id="rId24" Type="http://schemas.openxmlformats.org/officeDocument/2006/relationships/font" Target="fonts/NunitoSemiBold-boldItalic.fntdata"/><Relationship Id="rId23" Type="http://schemas.openxmlformats.org/officeDocument/2006/relationships/font" Target="fonts/Nunito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MavenPro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NunitoMedium-regular.fntdata"/><Relationship Id="rId12" Type="http://schemas.openxmlformats.org/officeDocument/2006/relationships/slide" Target="slides/slide7.xml"/><Relationship Id="rId34" Type="http://schemas.openxmlformats.org/officeDocument/2006/relationships/font" Target="fonts/MavenPro-bold.fntdata"/><Relationship Id="rId15" Type="http://schemas.openxmlformats.org/officeDocument/2006/relationships/slide" Target="slides/slide10.xml"/><Relationship Id="rId37" Type="http://schemas.openxmlformats.org/officeDocument/2006/relationships/font" Target="fonts/NunitoMedium-italic.fntdata"/><Relationship Id="rId14" Type="http://schemas.openxmlformats.org/officeDocument/2006/relationships/slide" Target="slides/slide9.xml"/><Relationship Id="rId36" Type="http://schemas.openxmlformats.org/officeDocument/2006/relationships/font" Target="fonts/Nunito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NunitoMedium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b75aab12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2b75aab12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b75aab12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2b75aab12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b75aab12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2b75aab12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b75aab12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2b75aab12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2b75aab126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2b75aab126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2b75aab126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2b75aab126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2b75aab126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2b75aab126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b75aab126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2b75aab126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2b75aab126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2b75aab126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b75aab126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2b75aab126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b75aab126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2b75aab126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2b75aab126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2b75aab126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2b75aab126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2b75aab126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2b75aab126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2b75aab126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 sz="2800">
                <a:solidFill>
                  <a:srgbClr val="404040"/>
                </a:solidFill>
              </a:rPr>
              <a:t>Customer Churn Analysis &amp; Recommendations</a:t>
            </a:r>
            <a:endParaRPr b="1" sz="28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404040"/>
                </a:solidFill>
              </a:rPr>
              <a:t>For Technical &amp; Business Stakeholders</a:t>
            </a:r>
            <a:endParaRPr b="1" sz="2800">
              <a:solidFill>
                <a:srgbClr val="404040"/>
              </a:solidFill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Presented by Garima Dubey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622"/>
              <a:buFont typeface="Arial"/>
              <a:buNone/>
            </a:pPr>
            <a:r>
              <a:rPr b="1" lang="en-GB" sz="2411">
                <a:solidFill>
                  <a:srgbClr val="404040"/>
                </a:solidFill>
              </a:rPr>
              <a:t>Executive Summary</a:t>
            </a:r>
            <a:endParaRPr b="1" sz="2411"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639800" y="1597875"/>
            <a:ext cx="76944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Inter"/>
              <a:buChar char="●"/>
            </a:pPr>
            <a:r>
              <a:rPr b="1" lang="en-GB" sz="2100">
                <a:solidFill>
                  <a:srgbClr val="404040"/>
                </a:solidFill>
              </a:rPr>
              <a:t>Objective:</a:t>
            </a:r>
            <a:r>
              <a:rPr lang="en-GB" sz="2100">
                <a:solidFill>
                  <a:srgbClr val="404040"/>
                </a:solidFill>
              </a:rPr>
              <a:t> Identify drivers of churn and propose actionable retention strategies.</a:t>
            </a:r>
            <a:endParaRPr sz="2100">
              <a:solidFill>
                <a:srgbClr val="404040"/>
              </a:solidFill>
            </a:endParaRPr>
          </a:p>
          <a:p>
            <a:pPr indent="-351948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●"/>
            </a:pPr>
            <a:r>
              <a:rPr b="1" lang="en-GB" sz="2100">
                <a:solidFill>
                  <a:srgbClr val="404040"/>
                </a:solidFill>
              </a:rPr>
              <a:t>Key Findings:</a:t>
            </a:r>
            <a:endParaRPr b="1" sz="2100">
              <a:solidFill>
                <a:srgbClr val="404040"/>
              </a:solidFill>
            </a:endParaRPr>
          </a:p>
          <a:p>
            <a:pPr indent="-351948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Inter"/>
              <a:buChar char="○"/>
            </a:pPr>
            <a:r>
              <a:rPr lang="en-GB" sz="2100">
                <a:solidFill>
                  <a:srgbClr val="404040"/>
                </a:solidFill>
              </a:rPr>
              <a:t>26.6% churn rate, with higher risk among </a:t>
            </a:r>
            <a:r>
              <a:rPr b="1" lang="en-GB" sz="2100">
                <a:solidFill>
                  <a:srgbClr val="404040"/>
                </a:solidFill>
              </a:rPr>
              <a:t>new customers</a:t>
            </a:r>
            <a:r>
              <a:rPr lang="en-GB" sz="2100">
                <a:solidFill>
                  <a:srgbClr val="404040"/>
                </a:solidFill>
              </a:rPr>
              <a:t>, </a:t>
            </a:r>
            <a:r>
              <a:rPr b="1" lang="en-GB" sz="2100">
                <a:solidFill>
                  <a:srgbClr val="404040"/>
                </a:solidFill>
              </a:rPr>
              <a:t>fiber optic users</a:t>
            </a:r>
            <a:r>
              <a:rPr lang="en-GB" sz="2100">
                <a:solidFill>
                  <a:srgbClr val="404040"/>
                </a:solidFill>
              </a:rPr>
              <a:t>, and </a:t>
            </a:r>
            <a:r>
              <a:rPr b="1" lang="en-GB" sz="2100">
                <a:solidFill>
                  <a:srgbClr val="404040"/>
                </a:solidFill>
              </a:rPr>
              <a:t>month-to-month contracts</a:t>
            </a:r>
            <a:r>
              <a:rPr lang="en-GB" sz="2100">
                <a:solidFill>
                  <a:srgbClr val="404040"/>
                </a:solidFill>
              </a:rPr>
              <a:t>.</a:t>
            </a:r>
            <a:endParaRPr sz="2100">
              <a:solidFill>
                <a:srgbClr val="404040"/>
              </a:solidFill>
            </a:endParaRPr>
          </a:p>
          <a:p>
            <a:pPr indent="-351948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Inter"/>
              <a:buChar char="○"/>
            </a:pPr>
            <a:r>
              <a:rPr b="1" lang="en-GB" sz="2100">
                <a:solidFill>
                  <a:srgbClr val="404040"/>
                </a:solidFill>
              </a:rPr>
              <a:t>High monthly charges</a:t>
            </a:r>
            <a:r>
              <a:rPr lang="en-GB" sz="2100">
                <a:solidFill>
                  <a:srgbClr val="404040"/>
                </a:solidFill>
              </a:rPr>
              <a:t> and </a:t>
            </a:r>
            <a:r>
              <a:rPr b="1" lang="en-GB" sz="2100">
                <a:solidFill>
                  <a:srgbClr val="404040"/>
                </a:solidFill>
              </a:rPr>
              <a:t>electronic check payments</a:t>
            </a:r>
            <a:r>
              <a:rPr lang="en-GB" sz="2100">
                <a:solidFill>
                  <a:srgbClr val="404040"/>
                </a:solidFill>
              </a:rPr>
              <a:t> correlate with churn.</a:t>
            </a:r>
            <a:endParaRPr sz="2100">
              <a:solidFill>
                <a:srgbClr val="404040"/>
              </a:solidFill>
            </a:endParaRPr>
          </a:p>
          <a:p>
            <a:pPr indent="-351948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Arial"/>
              <a:buChar char="○"/>
            </a:pPr>
            <a:r>
              <a:rPr lang="en-GB" sz="2100">
                <a:solidFill>
                  <a:srgbClr val="404040"/>
                </a:solidFill>
              </a:rPr>
              <a:t>Long-term customers with multiple services are more loyal.</a:t>
            </a:r>
            <a:endParaRPr sz="21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622"/>
              <a:buFont typeface="Arial"/>
              <a:buNone/>
            </a:pPr>
            <a:r>
              <a:rPr b="1" lang="en-GB" sz="2411">
                <a:solidFill>
                  <a:srgbClr val="404040"/>
                </a:solidFill>
              </a:rPr>
              <a:t>Data Overview</a:t>
            </a:r>
            <a:endParaRPr b="1" sz="2411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567650" y="1597875"/>
            <a:ext cx="79518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Inter"/>
              <a:buChar char="●"/>
            </a:pPr>
            <a:r>
              <a:rPr b="1" lang="en-GB" sz="2100">
                <a:solidFill>
                  <a:srgbClr val="404040"/>
                </a:solidFill>
              </a:rPr>
              <a:t>Dataset:</a:t>
            </a:r>
            <a:r>
              <a:rPr lang="en-GB" sz="2100">
                <a:solidFill>
                  <a:srgbClr val="404040"/>
                </a:solidFill>
              </a:rPr>
              <a:t> 7,043 customers, 21 features (demographics, services, billing).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●"/>
            </a:pPr>
            <a:r>
              <a:rPr b="1" lang="en-GB" sz="2100">
                <a:solidFill>
                  <a:srgbClr val="404040"/>
                </a:solidFill>
              </a:rPr>
              <a:t>Data Quality:</a:t>
            </a:r>
            <a:endParaRPr b="1" sz="2100">
              <a:solidFill>
                <a:srgbClr val="404040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Inter"/>
              <a:buChar char="○"/>
            </a:pPr>
            <a:r>
              <a:rPr lang="en-GB" sz="2100">
                <a:solidFill>
                  <a:srgbClr val="404040"/>
                </a:solidFill>
              </a:rPr>
              <a:t>No missing values except in TotalCharges (11 rows dropped).</a:t>
            </a:r>
            <a:endParaRPr sz="2100">
              <a:solidFill>
                <a:srgbClr val="404040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○"/>
            </a:pPr>
            <a:r>
              <a:rPr lang="en-GB" sz="2100">
                <a:solidFill>
                  <a:srgbClr val="404040"/>
                </a:solidFill>
              </a:rPr>
              <a:t>No duplicates.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Arial"/>
              <a:buChar char="●"/>
            </a:pPr>
            <a:r>
              <a:rPr b="1" lang="en-GB" sz="2100">
                <a:solidFill>
                  <a:srgbClr val="404040"/>
                </a:solidFill>
              </a:rPr>
              <a:t>Key Variables:</a:t>
            </a:r>
            <a:endParaRPr b="1" sz="2100">
              <a:solidFill>
                <a:srgbClr val="404040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Inter"/>
              <a:buChar char="○"/>
            </a:pPr>
            <a:r>
              <a:rPr lang="en-GB" sz="2100">
                <a:solidFill>
                  <a:srgbClr val="404040"/>
                </a:solidFill>
              </a:rPr>
              <a:t>Contract, InternetService, MonthlyCharges, PaymentMethod.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50">
                <a:solidFill>
                  <a:srgbClr val="404040"/>
                </a:solidFill>
              </a:rPr>
              <a:t>EDA Highlights</a:t>
            </a:r>
            <a:endParaRPr b="1" sz="235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311700" y="1428750"/>
            <a:ext cx="4044000" cy="33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50">
                <a:solidFill>
                  <a:srgbClr val="404040"/>
                </a:solidFill>
              </a:rPr>
              <a:t>1. Churn by Contract Type</a:t>
            </a:r>
            <a:endParaRPr b="1" sz="2150">
              <a:solidFill>
                <a:srgbClr val="404040"/>
              </a:solidFill>
            </a:endParaRPr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50"/>
              <a:buFont typeface="Inter"/>
              <a:buChar char="●"/>
            </a:pPr>
            <a:r>
              <a:rPr b="1" lang="en-GB" sz="2150">
                <a:solidFill>
                  <a:srgbClr val="404040"/>
                </a:solidFill>
              </a:rPr>
              <a:t>73% of churn</a:t>
            </a:r>
            <a:r>
              <a:rPr lang="en-GB" sz="2150">
                <a:solidFill>
                  <a:srgbClr val="404040"/>
                </a:solidFill>
              </a:rPr>
              <a:t> comes from </a:t>
            </a:r>
            <a:r>
              <a:rPr b="1" lang="en-GB" sz="2150">
                <a:solidFill>
                  <a:srgbClr val="404040"/>
                </a:solidFill>
              </a:rPr>
              <a:t>month-to-month</a:t>
            </a:r>
            <a:r>
              <a:rPr lang="en-GB" sz="2150">
                <a:solidFill>
                  <a:srgbClr val="404040"/>
                </a:solidFill>
              </a:rPr>
              <a:t> contracts.</a:t>
            </a:r>
            <a:endParaRPr sz="2150">
              <a:solidFill>
                <a:srgbClr val="404040"/>
              </a:solidFill>
            </a:endParaRPr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50"/>
              <a:buFont typeface="Inter"/>
              <a:buChar char="●"/>
            </a:pPr>
            <a:r>
              <a:rPr b="1" lang="en-GB" sz="2150">
                <a:solidFill>
                  <a:srgbClr val="404040"/>
                </a:solidFill>
              </a:rPr>
              <a:t>Long-term contracts (1-2 years)</a:t>
            </a:r>
            <a:r>
              <a:rPr lang="en-GB" sz="2150">
                <a:solidFill>
                  <a:srgbClr val="404040"/>
                </a:solidFill>
              </a:rPr>
              <a:t> show 3x lower churn.</a:t>
            </a:r>
            <a:endParaRPr sz="215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16"/>
          <p:cNvPicPr preferRelativeResize="0"/>
          <p:nvPr/>
        </p:nvPicPr>
        <p:blipFill rotWithShape="1">
          <a:blip r:embed="rId3">
            <a:alphaModFix/>
          </a:blip>
          <a:srcRect b="0" l="1980" r="-1980" t="0"/>
          <a:stretch/>
        </p:blipFill>
        <p:spPr>
          <a:xfrm>
            <a:off x="4572000" y="1003175"/>
            <a:ext cx="4362850" cy="33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6808"/>
              <a:buFont typeface="Arial"/>
              <a:buNone/>
            </a:pPr>
            <a:r>
              <a:rPr b="1" lang="en-GB" sz="2350">
                <a:solidFill>
                  <a:srgbClr val="404040"/>
                </a:solidFill>
              </a:rPr>
              <a:t>EDA Highlights</a:t>
            </a:r>
            <a:endParaRPr b="1" sz="235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393650" y="1580800"/>
            <a:ext cx="4340700" cy="29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rgbClr val="404040"/>
                </a:solidFill>
              </a:rPr>
              <a:t>2. Fiber Optic Users at Risk</a:t>
            </a:r>
            <a:endParaRPr b="1" sz="2100">
              <a:solidFill>
                <a:srgbClr val="40404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Inter"/>
              <a:buChar char="●"/>
            </a:pPr>
            <a:r>
              <a:rPr lang="en-GB" sz="2100">
                <a:solidFill>
                  <a:srgbClr val="404040"/>
                </a:solidFill>
              </a:rPr>
              <a:t>Fiber optic users churn </a:t>
            </a:r>
            <a:r>
              <a:rPr b="1" lang="en-GB" sz="2100">
                <a:solidFill>
                  <a:srgbClr val="404040"/>
                </a:solidFill>
              </a:rPr>
              <a:t>2x more</a:t>
            </a:r>
            <a:r>
              <a:rPr lang="en-GB" sz="2100">
                <a:solidFill>
                  <a:srgbClr val="404040"/>
                </a:solidFill>
              </a:rPr>
              <a:t> than DSL users.</a:t>
            </a:r>
            <a:endParaRPr sz="21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193" y="1311475"/>
            <a:ext cx="3761683" cy="295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7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rgbClr val="404040"/>
                </a:solidFill>
              </a:rPr>
              <a:t>EDA Highlights</a:t>
            </a:r>
            <a:endParaRPr sz="3600"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311700" y="1597875"/>
            <a:ext cx="4260300" cy="29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rgbClr val="404040"/>
                </a:solidFill>
              </a:rPr>
              <a:t>3. Payment Method Impact</a:t>
            </a:r>
            <a:endParaRPr b="1" sz="2100">
              <a:solidFill>
                <a:srgbClr val="40404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Inter"/>
              <a:buChar char="●"/>
            </a:pPr>
            <a:r>
              <a:rPr b="1" lang="en-GB" sz="2100">
                <a:solidFill>
                  <a:srgbClr val="404040"/>
                </a:solidFill>
              </a:rPr>
              <a:t>Electronic check users</a:t>
            </a:r>
            <a:r>
              <a:rPr lang="en-GB" sz="2100">
                <a:solidFill>
                  <a:srgbClr val="404040"/>
                </a:solidFill>
              </a:rPr>
              <a:t> churn 30% more than others.</a:t>
            </a:r>
            <a:endParaRPr sz="2100">
              <a:solidFill>
                <a:srgbClr val="40404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575" y="1036374"/>
            <a:ext cx="3819976" cy="30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6808"/>
              <a:buFont typeface="Arial"/>
              <a:buNone/>
            </a:pPr>
            <a:r>
              <a:rPr b="1" lang="en-GB" sz="2350">
                <a:solidFill>
                  <a:srgbClr val="404040"/>
                </a:solidFill>
              </a:rPr>
              <a:t>Feature Importance (SHAP Analysis)</a:t>
            </a:r>
            <a:endParaRPr b="1" sz="235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 txBox="1"/>
          <p:nvPr>
            <p:ph idx="1" type="body"/>
          </p:nvPr>
        </p:nvSpPr>
        <p:spPr>
          <a:xfrm>
            <a:off x="625375" y="1539400"/>
            <a:ext cx="4170900" cy="3174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-329723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Inter"/>
              <a:buChar char="●"/>
            </a:pPr>
            <a:r>
              <a:rPr lang="en-GB" sz="4900">
                <a:latin typeface="Nunito SemiBold"/>
                <a:ea typeface="Nunito SemiBold"/>
                <a:cs typeface="Nunito SemiBold"/>
                <a:sym typeface="Nunito SemiBold"/>
              </a:rPr>
              <a:t>SHAP analysis explains XGBoost churn predictions by identifying key factors like monthly charges &amp; contract type, showing their impact on individual customer churn risk.</a:t>
            </a:r>
            <a:endParaRPr sz="4900"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>
              <a:solidFill>
                <a:schemeClr val="dk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29723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Nunito SemiBold"/>
              <a:buChar char="●"/>
            </a:pPr>
            <a:r>
              <a:rPr lang="en-GB" sz="4900">
                <a:solidFill>
                  <a:srgbClr val="404040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Top Drivers of Churn:</a:t>
            </a:r>
            <a:endParaRPr sz="4900">
              <a:solidFill>
                <a:srgbClr val="404040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29723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Inter"/>
              <a:buAutoNum type="arabicPeriod"/>
            </a:pPr>
            <a:r>
              <a:rPr lang="en-GB" sz="4900">
                <a:solidFill>
                  <a:srgbClr val="404040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Contract type (short-term → high risk).</a:t>
            </a:r>
            <a:endParaRPr sz="4900">
              <a:solidFill>
                <a:srgbClr val="404040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29723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Inter"/>
              <a:buAutoNum type="arabicPeriod"/>
            </a:pPr>
            <a:r>
              <a:rPr lang="en-GB" sz="4900">
                <a:solidFill>
                  <a:srgbClr val="404040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Monthly charges (higher → higher risk).</a:t>
            </a:r>
            <a:endParaRPr sz="4900">
              <a:solidFill>
                <a:srgbClr val="404040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-329723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Inter"/>
              <a:buAutoNum type="arabicPeriod"/>
            </a:pPr>
            <a:r>
              <a:rPr lang="en-GB" sz="4900">
                <a:solidFill>
                  <a:srgbClr val="404040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Fiber optic service.</a:t>
            </a:r>
            <a:endParaRPr sz="4900">
              <a:solidFill>
                <a:srgbClr val="404040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350" y="1086050"/>
            <a:ext cx="3862950" cy="3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1217200" y="728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SHAP Analysis: Key Churn Insights</a:t>
            </a:r>
            <a:endParaRPr sz="2350"/>
          </a:p>
        </p:txBody>
      </p:sp>
      <p:sp>
        <p:nvSpPr>
          <p:cNvPr id="325" name="Google Shape;325;p20"/>
          <p:cNvSpPr txBox="1"/>
          <p:nvPr>
            <p:ph idx="1" type="body"/>
          </p:nvPr>
        </p:nvSpPr>
        <p:spPr>
          <a:xfrm>
            <a:off x="279025" y="1337350"/>
            <a:ext cx="8457000" cy="37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000"/>
              <a:t>Contract &amp; Tenure:</a:t>
            </a:r>
            <a:r>
              <a:rPr lang="en-GB" sz="6000"/>
              <a:t> Short-term contracts and new customers churn more; long-term users are stable.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000"/>
              <a:t>Charges</a:t>
            </a:r>
            <a:r>
              <a:rPr lang="en-GB" sz="6000"/>
              <a:t>: High </a:t>
            </a:r>
            <a:r>
              <a:rPr b="1" lang="en-GB" sz="6000"/>
              <a:t>monthly</a:t>
            </a:r>
            <a:r>
              <a:rPr lang="en-GB" sz="6000"/>
              <a:t> charges drive churn, but long-term customers with high </a:t>
            </a:r>
            <a:r>
              <a:rPr b="1" lang="en-GB" sz="6000"/>
              <a:t>total</a:t>
            </a:r>
            <a:r>
              <a:rPr lang="en-GB" sz="6000"/>
              <a:t> payments stay.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000"/>
              <a:t>Internet Service:</a:t>
            </a:r>
            <a:r>
              <a:rPr lang="en-GB" sz="6000"/>
              <a:t> Fiber users churn more (pricing/service issues); no-internet users churn less.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000"/>
              <a:t>Payment Method</a:t>
            </a:r>
            <a:r>
              <a:rPr lang="en-GB" sz="6000"/>
              <a:t>: Electronic check users have higher churn; other methods are more stable.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000"/>
              <a:t>Security &amp; Support: Online</a:t>
            </a:r>
            <a:r>
              <a:rPr lang="en-GB" sz="6000"/>
              <a:t> security &amp; tech support reduce churn.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000"/>
              <a:t>Streaming Services</a:t>
            </a:r>
            <a:r>
              <a:rPr lang="en-GB" sz="6000"/>
              <a:t>: TV/movie streaming users churn more, likely due to bundle dissatisfaction.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000"/>
              <a:t>Paperless Billing</a:t>
            </a:r>
            <a:r>
              <a:rPr lang="en-GB" sz="6000"/>
              <a:t>: Digital-savvy customers opting for paperless billing churn more.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6000"/>
              <a:t>Demographics</a:t>
            </a:r>
            <a:r>
              <a:rPr lang="en-GB" sz="6000"/>
              <a:t>: Seniors churn slightly more; gender impact is minimal.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6808"/>
              <a:buFont typeface="Arial"/>
              <a:buNone/>
            </a:pPr>
            <a:r>
              <a:rPr b="1" lang="en-GB" sz="2350">
                <a:solidFill>
                  <a:srgbClr val="404040"/>
                </a:solidFill>
              </a:rPr>
              <a:t>Customer Segmentation</a:t>
            </a:r>
            <a:endParaRPr b="1" sz="235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311700" y="1341875"/>
            <a:ext cx="3864000" cy="35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unito Medium"/>
              <a:buChar char="●"/>
            </a:pPr>
            <a:r>
              <a:rPr lang="en-GB" sz="21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K-Means clustering groups customers based on tenure, charges, and contract type, revealing high-risk churn segments and stable customer groups for targeted retention strategies.</a:t>
            </a:r>
            <a:endParaRPr sz="2100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Nunito Medium"/>
              <a:buChar char="●"/>
            </a:pPr>
            <a:r>
              <a:rPr lang="en-GB" sz="2100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Cluster 0: New, high-paying customers → highest churn risk.</a:t>
            </a:r>
            <a:endParaRPr sz="2100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Nunito Medium"/>
              <a:buChar char="●"/>
            </a:pPr>
            <a:r>
              <a:rPr lang="en-GB" sz="2100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Cluster 2: Long-tenure, moderate spenders → most loyal.</a:t>
            </a:r>
            <a:endParaRPr sz="2100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21"/>
          <p:cNvPicPr preferRelativeResize="0"/>
          <p:nvPr/>
        </p:nvPicPr>
        <p:blipFill rotWithShape="1">
          <a:blip r:embed="rId3">
            <a:alphaModFix/>
          </a:blip>
          <a:srcRect b="0" l="-5663" r="0" t="-14600"/>
          <a:stretch/>
        </p:blipFill>
        <p:spPr>
          <a:xfrm>
            <a:off x="4247775" y="702350"/>
            <a:ext cx="4574774" cy="39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 txBox="1"/>
          <p:nvPr>
            <p:ph type="title"/>
          </p:nvPr>
        </p:nvSpPr>
        <p:spPr>
          <a:xfrm>
            <a:off x="1231625" y="8294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622"/>
              <a:buFont typeface="Arial"/>
              <a:buNone/>
            </a:pPr>
            <a:r>
              <a:rPr b="1" lang="en-GB" sz="2411"/>
              <a:t>Customer Segmentation &amp; Churn Insights</a:t>
            </a:r>
            <a:endParaRPr b="1" sz="346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355"/>
          </a:p>
        </p:txBody>
      </p:sp>
      <p:sp>
        <p:nvSpPr>
          <p:cNvPr id="338" name="Google Shape;338;p22"/>
          <p:cNvSpPr txBox="1"/>
          <p:nvPr>
            <p:ph idx="1" type="body"/>
          </p:nvPr>
        </p:nvSpPr>
        <p:spPr>
          <a:xfrm>
            <a:off x="282850" y="1597875"/>
            <a:ext cx="841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1275" lvl="0" marL="457200" rtl="0" algn="l"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●"/>
            </a:pPr>
            <a:r>
              <a:rPr lang="en-GB" sz="6467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Tenure &amp; Churn : New customers (short tenure) churn more, especially with high monthly charges.</a:t>
            </a:r>
            <a:endParaRPr sz="6467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31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●"/>
            </a:pPr>
            <a:r>
              <a:rPr lang="en-GB" sz="6467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Monthly Charges : Higher charges correlate with higher churn, possibly due to perceived low value.</a:t>
            </a:r>
            <a:endParaRPr sz="6467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31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●"/>
            </a:pPr>
            <a:r>
              <a:rPr lang="en-GB" sz="6467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Stable Segments : Long-tenure, moderate-charge customers are more satisfied and less likely to churn.</a:t>
            </a:r>
            <a:endParaRPr sz="6467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31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Nunito Medium"/>
              <a:buChar char="●"/>
            </a:pPr>
            <a:r>
              <a:rPr lang="en-GB" sz="6467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Cluster Insights:</a:t>
            </a:r>
            <a:endParaRPr sz="6467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31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○"/>
            </a:pPr>
            <a:r>
              <a:rPr lang="en-GB" sz="6467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Cluster 0 (●) : New, high-paying customers with high churn risk.</a:t>
            </a:r>
            <a:endParaRPr sz="6467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31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○"/>
            </a:pPr>
            <a:r>
              <a:rPr lang="en-GB" sz="6467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Cluster 1 (■) : Moderate-paying customers with mixed tenure and lower churn.</a:t>
            </a:r>
            <a:endParaRPr sz="6467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31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○"/>
            </a:pPr>
            <a:r>
              <a:rPr lang="en-GB" sz="6467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Cluster 2 (▲) : Long-tenure, moderate-charge customers—most stable &amp; loyal.</a:t>
            </a:r>
            <a:endParaRPr sz="6467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6467">
                <a:solidFill>
                  <a:srgbClr val="404040"/>
                </a:solidFill>
              </a:rPr>
              <a:t>Key Takeaway</a:t>
            </a:r>
            <a:r>
              <a:rPr lang="en-GB" sz="6467">
                <a:solidFill>
                  <a:srgbClr val="404040"/>
                </a:solidFill>
                <a:latin typeface="Nunito Medium"/>
                <a:ea typeface="Nunito Medium"/>
                <a:cs typeface="Nunito Medium"/>
                <a:sym typeface="Nunito Medium"/>
              </a:rPr>
              <a:t>: Reduce churn by improving value for new, high-paying customers and reinforcing loyalty for long-tenure users.</a:t>
            </a:r>
            <a:endParaRPr sz="6467">
              <a:solidFill>
                <a:srgbClr val="40404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/>
          <p:nvPr>
            <p:ph type="title"/>
          </p:nvPr>
        </p:nvSpPr>
        <p:spPr>
          <a:xfrm>
            <a:off x="1231625" y="7448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350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Anomaly Detection Insights</a:t>
            </a:r>
            <a:endParaRPr b="1" sz="2350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3"/>
          <p:cNvSpPr txBox="1"/>
          <p:nvPr>
            <p:ph idx="1" type="body"/>
          </p:nvPr>
        </p:nvSpPr>
        <p:spPr>
          <a:xfrm>
            <a:off x="322300" y="1744100"/>
            <a:ext cx="39792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41947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Char char="●"/>
            </a:pPr>
            <a:r>
              <a:rPr lang="en-GB" sz="2100">
                <a:solidFill>
                  <a:srgbClr val="404040"/>
                </a:solidFill>
              </a:rPr>
              <a:t>Isolation Forest identifies </a:t>
            </a:r>
            <a:r>
              <a:rPr b="1" lang="en-GB" sz="2100">
                <a:solidFill>
                  <a:srgbClr val="404040"/>
                </a:solidFill>
              </a:rPr>
              <a:t>high-charge or extreme-tenure anomalies</a:t>
            </a:r>
            <a:r>
              <a:rPr lang="en-GB" sz="2100">
                <a:solidFill>
                  <a:srgbClr val="404040"/>
                </a:solidFill>
              </a:rPr>
              <a:t> as potential churn risks, enabling early intervention through </a:t>
            </a:r>
            <a:r>
              <a:rPr b="1" lang="en-GB" sz="2100">
                <a:solidFill>
                  <a:srgbClr val="404040"/>
                </a:solidFill>
              </a:rPr>
              <a:t>billing adjustments and retention strategies</a:t>
            </a:r>
            <a:r>
              <a:rPr lang="en-GB" sz="2100">
                <a:solidFill>
                  <a:srgbClr val="404040"/>
                </a:solidFill>
              </a:rPr>
              <a:t>.</a:t>
            </a:r>
            <a:endParaRPr b="1" sz="2100">
              <a:solidFill>
                <a:srgbClr val="404040"/>
              </a:solidFill>
            </a:endParaRPr>
          </a:p>
          <a:p>
            <a:pPr indent="-341947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Inter"/>
              <a:buChar char="●"/>
            </a:pPr>
            <a:r>
              <a:rPr b="1" lang="en-GB" sz="2100">
                <a:solidFill>
                  <a:srgbClr val="404040"/>
                </a:solidFill>
              </a:rPr>
              <a:t>5% of customers</a:t>
            </a:r>
            <a:r>
              <a:rPr lang="en-GB" sz="2100">
                <a:solidFill>
                  <a:srgbClr val="404040"/>
                </a:solidFill>
              </a:rPr>
              <a:t> flagged as anomalies:</a:t>
            </a:r>
            <a:endParaRPr sz="2100">
              <a:solidFill>
                <a:srgbClr val="404040"/>
              </a:solidFill>
            </a:endParaRPr>
          </a:p>
          <a:p>
            <a:pPr indent="-341947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Inter"/>
              <a:buChar char="○"/>
            </a:pPr>
            <a:r>
              <a:rPr b="1" lang="en-GB" sz="2100">
                <a:solidFill>
                  <a:srgbClr val="404040"/>
                </a:solidFill>
              </a:rPr>
              <a:t>High monthly charges</a:t>
            </a:r>
            <a:r>
              <a:rPr lang="en-GB" sz="2100">
                <a:solidFill>
                  <a:srgbClr val="404040"/>
                </a:solidFill>
              </a:rPr>
              <a:t> ($100–120) + </a:t>
            </a:r>
            <a:r>
              <a:rPr b="1" lang="en-GB" sz="2100">
                <a:solidFill>
                  <a:srgbClr val="404040"/>
                </a:solidFill>
              </a:rPr>
              <a:t>low tenure</a:t>
            </a:r>
            <a:r>
              <a:rPr lang="en-GB" sz="2100">
                <a:solidFill>
                  <a:srgbClr val="404040"/>
                </a:solidFill>
              </a:rPr>
              <a:t> (0–12 months).</a:t>
            </a:r>
            <a:endParaRPr sz="210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23"/>
          <p:cNvPicPr preferRelativeResize="0"/>
          <p:nvPr/>
        </p:nvPicPr>
        <p:blipFill rotWithShape="1">
          <a:blip r:embed="rId3">
            <a:alphaModFix/>
          </a:blip>
          <a:srcRect b="-2230" l="0" r="0" t="2230"/>
          <a:stretch/>
        </p:blipFill>
        <p:spPr>
          <a:xfrm>
            <a:off x="5055950" y="1288300"/>
            <a:ext cx="3831175" cy="37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"/>
          <p:cNvSpPr txBox="1"/>
          <p:nvPr>
            <p:ph type="title"/>
          </p:nvPr>
        </p:nvSpPr>
        <p:spPr>
          <a:xfrm>
            <a:off x="1289350" y="8150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150"/>
              <a:t>Anomaly Detection &amp; Churn Insights</a:t>
            </a:r>
            <a:endParaRPr b="1" sz="2150"/>
          </a:p>
        </p:txBody>
      </p:sp>
      <p:sp>
        <p:nvSpPr>
          <p:cNvPr id="351" name="Google Shape;351;p24"/>
          <p:cNvSpPr txBox="1"/>
          <p:nvPr>
            <p:ph idx="1" type="body"/>
          </p:nvPr>
        </p:nvSpPr>
        <p:spPr>
          <a:xfrm>
            <a:off x="297250" y="1397800"/>
            <a:ext cx="8554200" cy="3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lang="en-GB" sz="1700"/>
              <a:t>High Monthly Charges:</a:t>
            </a:r>
            <a:r>
              <a:rPr lang="en-GB" sz="1700"/>
              <a:t> Outliers (🔴) cluster at </a:t>
            </a:r>
            <a:r>
              <a:rPr b="1" lang="en-GB" sz="1700"/>
              <a:t>$100-$120,</a:t>
            </a:r>
            <a:r>
              <a:rPr lang="en-GB" sz="1700"/>
              <a:t> suggesting billing issues or dissatisfaction.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lang="en-GB" sz="1700"/>
              <a:t>Tenure Extremes: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b="1" lang="en-GB" sz="1700"/>
              <a:t>Low tenure (0-10 months):</a:t>
            </a:r>
            <a:r>
              <a:rPr lang="en-GB" sz="1700"/>
              <a:t> Early churn due to cost/service concerns.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b="1" lang="en-GB" sz="1700"/>
              <a:t>High tenure (60-70 months):</a:t>
            </a:r>
            <a:r>
              <a:rPr lang="en-GB" sz="1700"/>
              <a:t> Legacy users may face pricing shifts or service changes.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lang="en-GB" sz="1700"/>
              <a:t>Stable Segments:</a:t>
            </a:r>
            <a:r>
              <a:rPr lang="en-GB" sz="1700"/>
              <a:t> Most </a:t>
            </a:r>
            <a:r>
              <a:rPr b="1" lang="en-GB" sz="1700"/>
              <a:t>normal customers (🔵)</a:t>
            </a:r>
            <a:r>
              <a:rPr lang="en-GB" sz="1700"/>
              <a:t> fall in the </a:t>
            </a:r>
            <a:r>
              <a:rPr b="1" lang="en-GB" sz="1700"/>
              <a:t>10-50 months</a:t>
            </a:r>
            <a:r>
              <a:rPr lang="en-GB" sz="1700"/>
              <a:t> tenure &amp; </a:t>
            </a:r>
            <a:r>
              <a:rPr b="1" lang="en-GB" sz="1700"/>
              <a:t>$20-$90</a:t>
            </a:r>
            <a:r>
              <a:rPr lang="en-GB" sz="1700"/>
              <a:t> charges, showing predictable behavior.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Key Takeaway:</a:t>
            </a:r>
            <a:r>
              <a:rPr lang="en-GB" sz="1700"/>
              <a:t> Focus retention on </a:t>
            </a:r>
            <a:r>
              <a:rPr b="1" lang="en-GB" sz="1700"/>
              <a:t>new high-paying customers</a:t>
            </a:r>
            <a:r>
              <a:rPr lang="en-GB" sz="1700"/>
              <a:t> and </a:t>
            </a:r>
            <a:r>
              <a:rPr b="1" lang="en-GB" sz="1700"/>
              <a:t>long-tenured users facing pricing shifts</a:t>
            </a:r>
            <a:r>
              <a:rPr lang="en-GB" sz="1700"/>
              <a:t> to reduce churn.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"/>
          <p:cNvSpPr txBox="1"/>
          <p:nvPr>
            <p:ph type="title"/>
          </p:nvPr>
        </p:nvSpPr>
        <p:spPr>
          <a:xfrm>
            <a:off x="1206475" y="727150"/>
            <a:ext cx="85206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170">
                <a:solidFill>
                  <a:srgbClr val="404040"/>
                </a:solidFill>
              </a:rPr>
              <a:t>Model Performance</a:t>
            </a:r>
            <a:endParaRPr b="1" sz="217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357" name="Google Shape;357;p25"/>
          <p:cNvSpPr txBox="1"/>
          <p:nvPr>
            <p:ph idx="1" type="body"/>
          </p:nvPr>
        </p:nvSpPr>
        <p:spPr>
          <a:xfrm>
            <a:off x="149125" y="1467225"/>
            <a:ext cx="5930700" cy="31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-29831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b="1" lang="en-GB" sz="2744"/>
              <a:t>Random Forest Classifier:</a:t>
            </a:r>
            <a:r>
              <a:rPr lang="en-GB" sz="2744"/>
              <a:t> 79% accuracy.</a:t>
            </a:r>
            <a:endParaRPr sz="2744"/>
          </a:p>
          <a:p>
            <a:pPr indent="-298314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○"/>
            </a:pPr>
            <a:r>
              <a:rPr b="1" lang="en-GB" sz="2744"/>
              <a:t>Precision (Churn):</a:t>
            </a:r>
            <a:r>
              <a:rPr lang="en-GB" sz="2744"/>
              <a:t> 63% | </a:t>
            </a:r>
            <a:r>
              <a:rPr b="1" lang="en-GB" sz="2744"/>
              <a:t>Recall (Churn):</a:t>
            </a:r>
            <a:r>
              <a:rPr lang="en-GB" sz="2744"/>
              <a:t> 48%.</a:t>
            </a:r>
            <a:endParaRPr sz="2744"/>
          </a:p>
          <a:p>
            <a:pPr indent="-298314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○"/>
            </a:pPr>
            <a:r>
              <a:rPr b="1" lang="en-GB" sz="2744"/>
              <a:t>Weakness:</a:t>
            </a:r>
            <a:r>
              <a:rPr lang="en-GB" sz="2744"/>
              <a:t> Struggles to identify churners (high false negatives).</a:t>
            </a:r>
            <a:br>
              <a:rPr lang="en-GB" sz="2744"/>
            </a:br>
            <a:endParaRPr sz="2744"/>
          </a:p>
          <a:p>
            <a:pPr indent="-29831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2744"/>
              <a:t>Why Focus on Recall?</a:t>
            </a:r>
            <a:endParaRPr b="1" sz="2744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744"/>
              <a:t>Churn is the Priority</a:t>
            </a:r>
            <a:endParaRPr b="1" sz="2744"/>
          </a:p>
          <a:p>
            <a:pPr indent="-298314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-GB" sz="2744"/>
              <a:t>Recall captures more churners, which is the key to effective retention.</a:t>
            </a:r>
            <a:endParaRPr sz="2744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744"/>
              <a:t>Minimizing Risk</a:t>
            </a:r>
            <a:endParaRPr b="1" sz="2744"/>
          </a:p>
          <a:p>
            <a:pPr indent="-298314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○"/>
            </a:pPr>
            <a:r>
              <a:rPr lang="en-GB" sz="2744"/>
              <a:t>Prioritizing recall helps prevent missing churners, even if precision is slightly lower.</a:t>
            </a:r>
            <a:endParaRPr sz="2744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9775" y="2008900"/>
            <a:ext cx="2883875" cy="13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"/>
          <p:cNvSpPr txBox="1"/>
          <p:nvPr>
            <p:ph type="title"/>
          </p:nvPr>
        </p:nvSpPr>
        <p:spPr>
          <a:xfrm>
            <a:off x="1206450" y="779325"/>
            <a:ext cx="8520600" cy="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622"/>
              <a:buFont typeface="Arial"/>
              <a:buNone/>
            </a:pPr>
            <a:r>
              <a:rPr b="1" lang="en-GB" sz="2411">
                <a:solidFill>
                  <a:srgbClr val="404040"/>
                </a:solidFill>
              </a:rPr>
              <a:t> Business Recommendations</a:t>
            </a:r>
            <a:endParaRPr b="1" sz="2411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"/>
          <p:cNvSpPr txBox="1"/>
          <p:nvPr>
            <p:ph idx="1" type="body"/>
          </p:nvPr>
        </p:nvSpPr>
        <p:spPr>
          <a:xfrm>
            <a:off x="1332025" y="1346950"/>
            <a:ext cx="8962200" cy="3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404040"/>
                </a:solidFill>
              </a:rPr>
              <a:t>1. Fiber Optic Retention Overhaul</a:t>
            </a:r>
            <a:endParaRPr b="1" sz="1050">
              <a:solidFill>
                <a:srgbClr val="404040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Inter"/>
              <a:buChar char="●"/>
            </a:pPr>
            <a:r>
              <a:rPr b="1" lang="en-GB" sz="1050">
                <a:solidFill>
                  <a:srgbClr val="404040"/>
                </a:solidFill>
              </a:rPr>
              <a:t>Issue:</a:t>
            </a:r>
            <a:r>
              <a:rPr lang="en-GB" sz="1050">
                <a:solidFill>
                  <a:srgbClr val="404040"/>
                </a:solidFill>
              </a:rPr>
              <a:t> 31% higher churn risk for fiber users (correlation: 0.31).</a:t>
            </a:r>
            <a:endParaRPr sz="1050">
              <a:solidFill>
                <a:srgbClr val="404040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Arial"/>
              <a:buChar char="●"/>
            </a:pPr>
            <a:r>
              <a:rPr b="1" lang="en-GB" sz="1050">
                <a:solidFill>
                  <a:srgbClr val="404040"/>
                </a:solidFill>
              </a:rPr>
              <a:t>Actions:</a:t>
            </a:r>
            <a:endParaRPr b="1" sz="1050">
              <a:solidFill>
                <a:srgbClr val="404040"/>
              </a:solidFill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Inter"/>
              <a:buChar char="○"/>
            </a:pPr>
            <a:r>
              <a:rPr lang="en-GB" sz="1050">
                <a:solidFill>
                  <a:srgbClr val="404040"/>
                </a:solidFill>
              </a:rPr>
              <a:t>Launch </a:t>
            </a:r>
            <a:r>
              <a:rPr b="1" lang="en-GB" sz="1050">
                <a:solidFill>
                  <a:srgbClr val="404040"/>
                </a:solidFill>
              </a:rPr>
              <a:t>"Basic Fiber" tier</a:t>
            </a:r>
            <a:r>
              <a:rPr lang="en-GB" sz="1050">
                <a:solidFill>
                  <a:srgbClr val="404040"/>
                </a:solidFill>
              </a:rPr>
              <a:t> at lower cost.</a:t>
            </a:r>
            <a:endParaRPr sz="1050">
              <a:solidFill>
                <a:srgbClr val="404040"/>
              </a:solidFill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Inter"/>
              <a:buChar char="○"/>
            </a:pPr>
            <a:r>
              <a:rPr lang="en-GB" sz="1050">
                <a:solidFill>
                  <a:srgbClr val="404040"/>
                </a:solidFill>
              </a:rPr>
              <a:t>Bundle </a:t>
            </a:r>
            <a:r>
              <a:rPr b="1" lang="en-GB" sz="1050">
                <a:solidFill>
                  <a:srgbClr val="404040"/>
                </a:solidFill>
              </a:rPr>
              <a:t>free premium tech support</a:t>
            </a:r>
            <a:r>
              <a:rPr lang="en-GB" sz="1050">
                <a:solidFill>
                  <a:srgbClr val="404040"/>
                </a:solidFill>
              </a:rPr>
              <a:t> with fiber plans.</a:t>
            </a:r>
            <a:endParaRPr sz="105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404040"/>
                </a:solidFill>
              </a:rPr>
              <a:t>2. Auto-Pay Adoption Campaign</a:t>
            </a:r>
            <a:endParaRPr b="1" sz="1050">
              <a:solidFill>
                <a:srgbClr val="404040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Inter"/>
              <a:buChar char="●"/>
            </a:pPr>
            <a:r>
              <a:rPr b="1" lang="en-GB" sz="1050">
                <a:solidFill>
                  <a:srgbClr val="404040"/>
                </a:solidFill>
              </a:rPr>
              <a:t>Issue:</a:t>
            </a:r>
            <a:r>
              <a:rPr lang="en-GB" sz="1050">
                <a:solidFill>
                  <a:srgbClr val="404040"/>
                </a:solidFill>
              </a:rPr>
              <a:t> Electronic check users churn 30% more.</a:t>
            </a:r>
            <a:endParaRPr sz="1050">
              <a:solidFill>
                <a:srgbClr val="404040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Arial"/>
              <a:buChar char="●"/>
            </a:pPr>
            <a:r>
              <a:rPr b="1" lang="en-GB" sz="1050">
                <a:solidFill>
                  <a:srgbClr val="404040"/>
                </a:solidFill>
              </a:rPr>
              <a:t>Actions:</a:t>
            </a:r>
            <a:endParaRPr b="1" sz="1050">
              <a:solidFill>
                <a:srgbClr val="404040"/>
              </a:solidFill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Inter"/>
              <a:buChar char="○"/>
            </a:pPr>
            <a:r>
              <a:rPr lang="en-GB" sz="1050">
                <a:solidFill>
                  <a:srgbClr val="404040"/>
                </a:solidFill>
              </a:rPr>
              <a:t>Offer </a:t>
            </a:r>
            <a:r>
              <a:rPr b="1" lang="en-GB" sz="1050">
                <a:solidFill>
                  <a:srgbClr val="404040"/>
                </a:solidFill>
              </a:rPr>
              <a:t>5% discount</a:t>
            </a:r>
            <a:r>
              <a:rPr lang="en-GB" sz="1050">
                <a:solidFill>
                  <a:srgbClr val="404040"/>
                </a:solidFill>
              </a:rPr>
              <a:t> for auto-pay enrollment.</a:t>
            </a:r>
            <a:endParaRPr sz="1050">
              <a:solidFill>
                <a:srgbClr val="404040"/>
              </a:solidFill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Arial"/>
              <a:buChar char="○"/>
            </a:pPr>
            <a:r>
              <a:rPr lang="en-GB" sz="1050">
                <a:solidFill>
                  <a:srgbClr val="404040"/>
                </a:solidFill>
              </a:rPr>
              <a:t>Simplify setup via SMS/email nudges.</a:t>
            </a:r>
            <a:endParaRPr sz="105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404040"/>
                </a:solidFill>
              </a:rPr>
              <a:t>3. Contract Conversion Incentives</a:t>
            </a:r>
            <a:endParaRPr b="1" sz="1050">
              <a:solidFill>
                <a:srgbClr val="404040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Inter"/>
              <a:buChar char="●"/>
            </a:pPr>
            <a:r>
              <a:rPr b="1" lang="en-GB" sz="1050">
                <a:solidFill>
                  <a:srgbClr val="404040"/>
                </a:solidFill>
              </a:rPr>
              <a:t>Issue:</a:t>
            </a:r>
            <a:r>
              <a:rPr lang="en-GB" sz="1050">
                <a:solidFill>
                  <a:srgbClr val="404040"/>
                </a:solidFill>
              </a:rPr>
              <a:t> 73% of churn from month-to-month contracts.</a:t>
            </a:r>
            <a:endParaRPr sz="1050">
              <a:solidFill>
                <a:srgbClr val="404040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Arial"/>
              <a:buChar char="●"/>
            </a:pPr>
            <a:r>
              <a:rPr b="1" lang="en-GB" sz="1050">
                <a:solidFill>
                  <a:srgbClr val="404040"/>
                </a:solidFill>
              </a:rPr>
              <a:t>Actions:</a:t>
            </a:r>
            <a:endParaRPr b="1" sz="1050">
              <a:solidFill>
                <a:srgbClr val="404040"/>
              </a:solidFill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Inter"/>
              <a:buChar char="○"/>
            </a:pPr>
            <a:r>
              <a:rPr b="1" lang="en-GB" sz="1050">
                <a:solidFill>
                  <a:srgbClr val="404040"/>
                </a:solidFill>
              </a:rPr>
              <a:t>$100 loyalty bonus</a:t>
            </a:r>
            <a:r>
              <a:rPr lang="en-GB" sz="1050">
                <a:solidFill>
                  <a:srgbClr val="404040"/>
                </a:solidFill>
              </a:rPr>
              <a:t> for switching to 1-year contracts.</a:t>
            </a:r>
            <a:endParaRPr sz="1050">
              <a:solidFill>
                <a:srgbClr val="404040"/>
              </a:solidFill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Arial"/>
              <a:buChar char="○"/>
            </a:pPr>
            <a:r>
              <a:rPr lang="en-GB" sz="1050">
                <a:solidFill>
                  <a:srgbClr val="404040"/>
                </a:solidFill>
              </a:rPr>
              <a:t>Free streaming upgrades for early renewals.</a:t>
            </a:r>
            <a:endParaRPr sz="105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50">
                <a:solidFill>
                  <a:srgbClr val="404040"/>
                </a:solidFill>
              </a:rPr>
              <a:t>4. High-Risk Customer Discounts</a:t>
            </a:r>
            <a:endParaRPr b="1" sz="1050">
              <a:solidFill>
                <a:srgbClr val="404040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Inter"/>
              <a:buChar char="●"/>
            </a:pPr>
            <a:r>
              <a:rPr b="1" lang="en-GB" sz="1050">
                <a:solidFill>
                  <a:srgbClr val="404040"/>
                </a:solidFill>
              </a:rPr>
              <a:t>Issue:</a:t>
            </a:r>
            <a:r>
              <a:rPr lang="en-GB" sz="1050">
                <a:solidFill>
                  <a:srgbClr val="404040"/>
                </a:solidFill>
              </a:rPr>
              <a:t> New customers with high charges churn most.</a:t>
            </a:r>
            <a:endParaRPr sz="1050">
              <a:solidFill>
                <a:srgbClr val="404040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Arial"/>
              <a:buChar char="●"/>
            </a:pPr>
            <a:r>
              <a:rPr b="1" lang="en-GB" sz="1050">
                <a:solidFill>
                  <a:srgbClr val="404040"/>
                </a:solidFill>
              </a:rPr>
              <a:t>Actions:</a:t>
            </a:r>
            <a:endParaRPr b="1" sz="1050">
              <a:solidFill>
                <a:srgbClr val="404040"/>
              </a:solidFill>
            </a:endParaRPr>
          </a:p>
          <a:p>
            <a:pPr indent="-295275" lvl="1" marL="9144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Inter"/>
              <a:buChar char="○"/>
            </a:pPr>
            <a:r>
              <a:rPr b="1" lang="en-GB" sz="1050">
                <a:solidFill>
                  <a:srgbClr val="404040"/>
                </a:solidFill>
              </a:rPr>
              <a:t>10% off first 6 months</a:t>
            </a:r>
            <a:r>
              <a:rPr lang="en-GB" sz="1050">
                <a:solidFill>
                  <a:srgbClr val="404040"/>
                </a:solidFill>
              </a:rPr>
              <a:t> for new high-spenders.</a:t>
            </a:r>
            <a:endParaRPr sz="1050">
              <a:solidFill>
                <a:srgbClr val="40404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"/>
          <p:cNvSpPr txBox="1"/>
          <p:nvPr>
            <p:ph type="title"/>
          </p:nvPr>
        </p:nvSpPr>
        <p:spPr>
          <a:xfrm>
            <a:off x="1293050" y="708175"/>
            <a:ext cx="8520600" cy="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11">
                <a:solidFill>
                  <a:srgbClr val="404040"/>
                </a:solidFill>
              </a:rPr>
              <a:t>Business Recommendations</a:t>
            </a:r>
            <a:endParaRPr/>
          </a:p>
        </p:txBody>
      </p:sp>
      <p:sp>
        <p:nvSpPr>
          <p:cNvPr id="370" name="Google Shape;370;p27"/>
          <p:cNvSpPr txBox="1"/>
          <p:nvPr>
            <p:ph idx="1" type="body"/>
          </p:nvPr>
        </p:nvSpPr>
        <p:spPr>
          <a:xfrm>
            <a:off x="845675" y="1208650"/>
            <a:ext cx="6389400" cy="36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50"/>
              <a:t>5. Anomaly Retention Program</a:t>
            </a:r>
            <a:endParaRPr b="1" sz="1050"/>
          </a:p>
          <a:p>
            <a:pPr indent="-295275" lvl="0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b="1" lang="en-GB" sz="1050"/>
              <a:t>Issue:</a:t>
            </a:r>
            <a:r>
              <a:rPr lang="en-GB" sz="1050"/>
              <a:t> 5% of customers flagged as high-risk anomalies.</a:t>
            </a:r>
            <a:endParaRPr sz="1050"/>
          </a:p>
          <a:p>
            <a:pPr indent="-295275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b="1" lang="en-GB" sz="1050"/>
              <a:t>Actions:</a:t>
            </a:r>
            <a:endParaRPr b="1" sz="1050"/>
          </a:p>
          <a:p>
            <a:pPr indent="-295275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Char char="○"/>
            </a:pPr>
            <a:r>
              <a:rPr lang="en-GB" sz="1050"/>
              <a:t>Assign </a:t>
            </a:r>
            <a:r>
              <a:rPr b="1" lang="en-GB" sz="1050"/>
              <a:t>dedicated account managers</a:t>
            </a:r>
            <a:r>
              <a:rPr lang="en-GB" sz="1050"/>
              <a:t> for personalized retention.</a:t>
            </a:r>
            <a:endParaRPr sz="105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50"/>
              <a:t>6. Streaming Value Partnerships</a:t>
            </a:r>
            <a:endParaRPr b="1" sz="1050"/>
          </a:p>
          <a:p>
            <a:pPr indent="-295275" lvl="0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b="1" lang="en-GB" sz="1050"/>
              <a:t>Issue:</a:t>
            </a:r>
            <a:r>
              <a:rPr lang="en-GB" sz="1050"/>
              <a:t> Streaming users churn slightly more.</a:t>
            </a:r>
            <a:endParaRPr sz="1050"/>
          </a:p>
          <a:p>
            <a:pPr indent="-295275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b="1" lang="en-GB" sz="1050"/>
              <a:t>Actions:</a:t>
            </a:r>
            <a:endParaRPr b="1" sz="1050"/>
          </a:p>
          <a:p>
            <a:pPr indent="-295275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Char char="○"/>
            </a:pPr>
            <a:r>
              <a:rPr lang="en-GB" sz="1050"/>
              <a:t>Partner with Netflix/Disney+ for </a:t>
            </a:r>
            <a:r>
              <a:rPr b="1" lang="en-GB" sz="1050"/>
              <a:t>free bundled access</a:t>
            </a:r>
            <a:r>
              <a:rPr lang="en-GB" sz="1050"/>
              <a:t>.</a:t>
            </a:r>
            <a:endParaRPr sz="105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50"/>
              <a:t>7. Senior Citizen Engagement</a:t>
            </a:r>
            <a:endParaRPr b="1" sz="1050"/>
          </a:p>
          <a:p>
            <a:pPr indent="-295275" lvl="0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b="1" lang="en-GB" sz="1050"/>
              <a:t>Issue:</a:t>
            </a:r>
            <a:r>
              <a:rPr lang="en-GB" sz="1050"/>
              <a:t> Seniors churn 15% more.</a:t>
            </a:r>
            <a:endParaRPr sz="1050"/>
          </a:p>
          <a:p>
            <a:pPr indent="-295275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b="1" lang="en-GB" sz="1050"/>
              <a:t>Actions:</a:t>
            </a:r>
            <a:endParaRPr b="1" sz="1050"/>
          </a:p>
          <a:p>
            <a:pPr indent="-295275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Char char="○"/>
            </a:pPr>
            <a:r>
              <a:rPr b="1" lang="en-GB" sz="1050"/>
              <a:t>15% senior discount</a:t>
            </a:r>
            <a:r>
              <a:rPr lang="en-GB" sz="1050"/>
              <a:t> on bundled services.</a:t>
            </a:r>
            <a:endParaRPr sz="105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50"/>
              <a:t>8. Real-Time Churn Alerts</a:t>
            </a:r>
            <a:endParaRPr b="1" sz="1050"/>
          </a:p>
          <a:p>
            <a:pPr indent="-295275" lvl="0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50"/>
              <a:buChar char="●"/>
            </a:pPr>
            <a:r>
              <a:rPr b="1" lang="en-GB" sz="1050"/>
              <a:t>Leverage Model Predictions:</a:t>
            </a:r>
            <a:endParaRPr b="1" sz="1050"/>
          </a:p>
          <a:p>
            <a:pPr indent="-295275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Char char="○"/>
            </a:pPr>
            <a:r>
              <a:rPr lang="en-GB" sz="1050"/>
              <a:t>Trigger instant offers (e.g., </a:t>
            </a:r>
            <a:r>
              <a:rPr b="1" lang="en-GB" sz="1050"/>
              <a:t>20% discount</a:t>
            </a:r>
            <a:r>
              <a:rPr lang="en-GB" sz="1050"/>
              <a:t>) for flagged high-risk custo</a:t>
            </a:r>
            <a:r>
              <a:rPr lang="en-GB" sz="1050"/>
              <a:t>mers.</a:t>
            </a:r>
            <a:endParaRPr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